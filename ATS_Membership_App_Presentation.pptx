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1645920"/>
            <a:ext cx="32918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Calibri"/>
              </a:defRPr>
            </a:pPr>
            <a:r>
              <a:t>ATS Membership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Workflow, Features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246120"/>
            <a:ext cx="32918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Citadel Global Community Church  •  Apostolic Training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1.  App Overview &amp; Purpose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2.  System Architecture &amp; Tech Stack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3.  Core Workflow — Registration to Grading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4.  Three-Programme Model (Membership · MIT · Proclaimers)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5.  Admin Dashboard &amp; Analytics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6.  Batch Management &amp; QR Code System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7.  Student Profiles &amp; Grade Management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8.  Excel Import / Export &amp; Data Migration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9.  Retake System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10. Google Sheets Sync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11. Security &amp;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12. Deployment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is the ATS Membership App and why was it built?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Replaces legacy Microsoft Forms for member registration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Full-stack web application for the Apostolic Training School (ATS)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Covers three training programmes: Membership, MIT, and Proclaimers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Each student receives a unique, auto-generated ID (e.g. ATS-056-0001)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Real-time sync with Google Sheets as a secondary record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Admins manage batches, view analytics, and grade students — all in one place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 Supabase is the single source of truth for all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011680" cy="237744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57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Next.js 14 + 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Server-side rendered pages,</a:t>
            </a:r>
            <a:br/>
            <a:r>
              <a:t>App Router, dynamic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645920"/>
            <a:ext cx="2011680" cy="237744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783080"/>
            <a:ext cx="457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86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Next.js API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RESTful endpoints for batches,</a:t>
            </a:r>
            <a:br/>
            <a:r>
              <a:t>students, grades, import/export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645920"/>
            <a:ext cx="2011680" cy="237744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783080"/>
            <a:ext cx="457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286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RLS policies, auto-IDs,</a:t>
            </a:r>
            <a:br/>
            <a:r>
              <a:t>real-time storage bucket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645920"/>
            <a:ext cx="2011680" cy="237744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178308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920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86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Google Sheets API + XLSX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Bidirectional sync, Excel</a:t>
            </a:r>
            <a:br/>
            <a:r>
              <a:t>import/export, data migration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From batch creation to student grading — the end-to-end flow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Create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t>Admin creates a new batch</a:t>
            </a:r>
            <a:br/>
            <a:r>
              <a:t>(code, name, programme type)</a:t>
            </a:r>
            <a:br/>
            <a:r>
              <a:t>and gets a unique reg link.</a:t>
            </a:r>
          </a:p>
        </p:txBody>
      </p:sp>
      <p:sp>
        <p:nvSpPr>
          <p:cNvPr id="10" name="Oval 9"/>
          <p:cNvSpPr/>
          <p:nvPr/>
        </p:nvSpPr>
        <p:spPr>
          <a:xfrm>
            <a:off x="2542031" y="173736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1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1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Share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1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t>Link or QR code is shared</a:t>
            </a:r>
            <a:br/>
            <a:r>
              <a:t>with students via WhatsApp</a:t>
            </a:r>
            <a:br/>
            <a:r>
              <a:t>or printed materials.</a:t>
            </a:r>
          </a:p>
        </p:txBody>
      </p:sp>
      <p:sp>
        <p:nvSpPr>
          <p:cNvPr id="15" name="Oval 14"/>
          <p:cNvSpPr/>
          <p:nvPr/>
        </p:nvSpPr>
        <p:spPr>
          <a:xfrm>
            <a:off x="4306823" y="17373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3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3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3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Student Registers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t>Student fills in biodata,</a:t>
            </a:r>
            <a:br/>
            <a:r>
              <a:t>uploads a photo, and submits.</a:t>
            </a:r>
            <a:br/>
            <a:r>
              <a:t>Unique ID is auto-generated.</a:t>
            </a:r>
          </a:p>
        </p:txBody>
      </p:sp>
      <p:sp>
        <p:nvSpPr>
          <p:cNvPr id="20" name="Oval 19"/>
          <p:cNvSpPr/>
          <p:nvPr/>
        </p:nvSpPr>
        <p:spPr>
          <a:xfrm>
            <a:off x="6071616" y="17373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Data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t>Record saved to Supabase</a:t>
            </a:r>
            <a:br/>
            <a:r>
              <a:t>and appended to Google</a:t>
            </a:r>
            <a:br/>
            <a:r>
              <a:t>Sheets automatically.</a:t>
            </a:r>
          </a:p>
        </p:txBody>
      </p:sp>
      <p:sp>
        <p:nvSpPr>
          <p:cNvPr id="25" name="Oval 24"/>
          <p:cNvSpPr/>
          <p:nvPr/>
        </p:nvSpPr>
        <p:spPr>
          <a:xfrm>
            <a:off x="7836408" y="1737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Admin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t>Admin views profiles,</a:t>
            </a:r>
            <a:br/>
            <a:r>
              <a:t>assigns grades, exports</a:t>
            </a:r>
            <a:br/>
            <a:r>
              <a:t>data, or imports via Excel.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Three-Programme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Each batch belongs to one of three ATS training levels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2743200" cy="320040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23774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MEMBERSHIP (MEM-100)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1F5F9"/>
                </a:solidFill>
                <a:latin typeface="Calibri"/>
              </a:defRPr>
            </a:pPr>
            <a:r>
              <a:t>▸ New members register via unique link</a:t>
            </a:r>
            <a:br/>
            <a:r>
              <a:t>▸ Personal &amp; spiritual biodata collected</a:t>
            </a:r>
            <a:br/>
            <a:r>
              <a:t>▸ Photo upload + unique Student ID</a:t>
            </a:r>
            <a:br/>
            <a:r>
              <a:t>▸ Grades: Attendance, Test, Assignment,</a:t>
            </a:r>
            <a:br/>
            <a:r>
              <a:t>   Assessment, Presentation, Exam</a:t>
            </a:r>
            <a:br/>
            <a:r>
              <a:t>▸ Tracks water &amp; Holy Spirit baptism,</a:t>
            </a:r>
            <a:br/>
            <a:r>
              <a:t>   covenant deed signing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743200" cy="320040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23774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MIT (MIT-200)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1F5F9"/>
                </a:solidFill>
                <a:latin typeface="Calibri"/>
              </a:defRPr>
            </a:pPr>
            <a:r>
              <a:t>▸ Ministry-in-Training programme</a:t>
            </a:r>
            <a:br/>
            <a:r>
              <a:t>▸ Links existing Membership students</a:t>
            </a:r>
            <a:br/>
            <a:r>
              <a:t>▸ Students look up their ID or card number</a:t>
            </a:r>
            <a:br/>
            <a:r>
              <a:t>▸ Grades: Midterm, Interactions, Bible Study,</a:t>
            </a:r>
            <a:br/>
            <a:r>
              <a:t>   CTH, Community Service, Evangelism</a:t>
            </a:r>
            <a:br/>
            <a:r>
              <a:t>▸ Tracks department + first-timer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554480"/>
            <a:ext cx="2743200" cy="320040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39" y="1737360"/>
            <a:ext cx="23774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PROCLAIMERS (PROC-300)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9" y="22860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1F5F9"/>
                </a:solidFill>
                <a:latin typeface="Calibri"/>
              </a:defRPr>
            </a:pPr>
            <a:r>
              <a:t>▸ Advanced ministry programme</a:t>
            </a:r>
            <a:br/>
            <a:r>
              <a:t>▸ Also links existing Membership students</a:t>
            </a:r>
            <a:br/>
            <a:r>
              <a:t>▸ Grades: CIH, Attendance, Assessment,</a:t>
            </a:r>
            <a:br/>
            <a:r>
              <a:t>   Presentation, Project, Mountain of</a:t>
            </a:r>
            <a:br/>
            <a:r>
              <a:t>   Influence, Seminar Attendance</a:t>
            </a:r>
            <a:br/>
            <a:r>
              <a:t>▸ Department assignment per student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Admin 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Real-time statistics and visual insights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128016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Total Enrolled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Membership + MIT + Proclaimers</a:t>
            </a:r>
            <a:br/>
            <a:r>
              <a:t>across all batches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554480"/>
            <a:ext cx="2011680" cy="128016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Gender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57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Male vs Female percentage</a:t>
            </a:r>
            <a:br/>
            <a:r>
              <a:t>breakdown with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554480"/>
            <a:ext cx="2011680" cy="128016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Calibri"/>
              </a:defRPr>
            </a:pPr>
            <a:r>
              <a:t>First Timers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57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Count and percentage of</a:t>
            </a:r>
            <a:br/>
            <a:r>
              <a:t>first-time members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54480"/>
            <a:ext cx="2011680" cy="128016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Batches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0574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Calibri"/>
              </a:defRPr>
            </a:pPr>
            <a:r>
              <a:t>Active vs total batches</a:t>
            </a:r>
            <a:br/>
            <a:r>
              <a:t>registered in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📈 Batch Student Growth — Multi-line trend chart showing Membership, MIT, and Proclaimers student counts per batch with interactive hover tooltips.</a:t>
            </a:r>
          </a:p>
          <a:p>
            <a:pPr>
              <a:spcAft>
                <a:spcPts val="14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📊 Student Demographics — Bar chart comparing Male/Female counts and First-Timer ratios with clean, color-coded visual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Batch Management &amp; QR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Create, search, share, and manage registration 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Create Batch — Assign code, name, and programme type (Membership / MIT / Proclaimers)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Unique Registration Link — Auto-generated reg_token for each batch, shareable via URL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QR Code Generation — One-click QR codes via qrserver.com API, downloadable as PNG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Copy Link — Quick clipboard copy of the full registration URL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Batch Search &amp; Filter — Search by code or name, filter by programme type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Pagination — 3 batch cards per page with Previous / Next navigation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Delete Batch — Confirmation-gated batch deletion with cascade protection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Batch Detail View — See all students in a batch, with programme-specific student tables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Activate / Deactivate — Toggle is_active flag to open or close registrations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Student Profiles &amp; Grade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Comprehensive student data and inline grade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Student Profile Card: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Auto-generated Student ID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Photo (uploaded to Supabase Storage)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Full biodata: name, email, phone,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    DOB, gender, address, next of kin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Spiritual info: born again status,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    water/Holy Spirit baptism, church join date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Education level &amp; first-timer flag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Card number for physical membership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Grade Management: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Inline grade editing per student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Membership: 6 scores + status + comments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MIT: 10+ scores including CTH, evangelism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Proclaimers: CIH, assessment, project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Pass / Fail status tracking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Retake badge detection (🔄 icon)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Global student search across all batches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 Search by name, student ID, or card 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Registration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students see when they open the registration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Personal Details: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Surname, First Name, Middle Name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Email Address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Phone Number (WhatsApp)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Date of Birth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Gender (Male / Female)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First Timer status (Yes / No)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Home Address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Next of Kin + Address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State of Origin &amp; Nationality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Education Level (3 tiers)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Spiritual Background: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Born Again (Yes / No / Maybe)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    → If Yes: when &amp; where details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Baptized by Immersion (Water)?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    → If Yes: when &amp; where details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Baptized in the Holy Spirit?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    → If Yes: when &amp; where details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When did you join CGCC?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Any challenges to participation?</a:t>
            </a: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F1F5F9"/>
                </a:solidFill>
                <a:latin typeface="Calibri"/>
              </a:defRPr>
            </a:pPr>
            <a:r>
              <a:t>▸ Optional: Photo Upload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Excel Import / Export &amp;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Bulk data operations with intelligent matching and retake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EXPORT (Download as .xlsx):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One-click download per batch — generates multi-sheet Excel workbook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Separate tabs: Membership, MIT, Proclaimers (only if data exists)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Student name, ID, class, trainer, all scores, status, comments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IMPORT (Upload .xlsx):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Intelligent header detection — scans first 10 rows for known column names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Master Bio Sheet — creates students with auto-generated unique IDs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Grades Sheet — upserts grade records per student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Cross-batch student matching by email, card number, or name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Retake detection — automatically flags students re-enrolling from prior batches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Collision-safe ID generation with up to 5 retry attempts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MIGRATION TEMPLATE:</a:t>
            </a:r>
          </a:p>
          <a:p>
            <a:pPr>
              <a:spcAft>
                <a:spcPts val="400"/>
              </a:spcAft>
              <a:defRPr sz="1150">
                <a:solidFill>
                  <a:srgbClr val="FFFFFF"/>
                </a:solidFill>
                <a:latin typeface="Calibri"/>
              </a:defRPr>
            </a:pPr>
            <a:r>
              <a:t>   ▸  Downloadable template Excel for standardised bulk imports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Retake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Supporting students who need to re-enrol across batches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2743200" cy="256032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3774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Membership Retake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Student searches by existing ID or card number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API updates batch_id to the new batch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Grade record is RESET with 'RETAKE —' comment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Prior status is preserved in comments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743200" cy="256032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91640"/>
            <a:ext cx="23774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MIT Retake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Lookup returns isRetake=true + prior attempts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New mit_registrations row per batch allowed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New mit_grades row with 'RETAKE —' comment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Multiple enrolments across batches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554480"/>
            <a:ext cx="2743200" cy="256032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39" y="1691640"/>
            <a:ext cx="23774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Proclaimers Retake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9" y="2194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Same approach as MIT retake system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Multiple proclaimers_registrations per student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Each batch gets its own grade record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Calibri"/>
              </a:defRPr>
            </a:pPr>
            <a:r>
              <a:t>▸ Admin UI shows 🔄 Retake badge on profile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Google Sheets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Automatic cloud backup of every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Every new student registration automatically appends a row to a configured Google Sheet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Uses Google Sheets API v4 via a Service Account with Editor access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Synced fields: Student ID, name, email, phone, gender, DOB, batch code, and more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Supabase remains the source of truth — Sheets is a complementary backup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If Google Sheets env vars are not configured, the app logs a warning and continues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Configurable sheet tab name (default: 'Registrations')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No data loss — sync failures are caught and logged without blocking the registration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Layered security model protecting admin and student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🔐  Admin Authentication — Supabase email/password auth via client SDK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🛡️  Admin Guard Hook — useAdminGuard() checks session on every admin page load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🔑  Service Role Key — Server-side API routes use the Supabase service_role key (bypasses RLS)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📋  Row-Level Security (RLS) — Enforced on all tables: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        • batches: public can only READ active batches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        • students: NO public access; admin-only reads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        • student_grades / mit_grades / proclaimers_grades: admin-only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📸  Storage Policies — student-photos bucket allows public uploads and reads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🔒  Bearer Token Auth — All API routes validate the Authorization header</a:t>
            </a:r>
          </a:p>
          <a:p>
            <a:pPr>
              <a:spcAft>
                <a:spcPts val="800"/>
              </a:spcAft>
              <a:defRPr sz="1250">
                <a:solidFill>
                  <a:srgbClr val="FFFFFF"/>
                </a:solidFill>
                <a:latin typeface="Calibri"/>
              </a:defRPr>
            </a:pPr>
            <a:r>
              <a:t>🚫  Cascade Protection — Foreign keys use ON DELETE RESTRICT to prevent orphaned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6 core tables powering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365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batches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id, batch_code, batch_name,</a:t>
            </a:r>
            <a:br/>
            <a:r>
              <a:t>reg_token, is_active, programme_type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64208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id, student_unique_id, batch_id,</a:t>
            </a:r>
            <a:br/>
            <a:r>
              <a:t>biodata fields, photo_url, card_number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55448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19" y="1664208"/>
            <a:ext cx="365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1755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student_grades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student_id → students,</a:t>
            </a:r>
            <a:br/>
            <a:r>
              <a:t>6 score columns + status +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10896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18688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0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mit_registrations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batch_id, membership_student_id,</a:t>
            </a:r>
            <a:br/>
            <a:r>
              <a:t>department (links Membership → MIT)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10896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218688"/>
            <a:ext cx="365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310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mit_grades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611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mit_registration_id,</a:t>
            </a:r>
            <a:br/>
            <a:r>
              <a:t>10+ score columns +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59" y="3108960"/>
            <a:ext cx="2743200" cy="1325880"/>
          </a:xfrm>
          <a:prstGeom prst="roundRect">
            <a:avLst/>
          </a:prstGeom>
          <a:solidFill>
            <a:srgbClr val="12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19" y="3218688"/>
            <a:ext cx="365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3310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proclaimers_*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3611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Same pattern as MIT:</a:t>
            </a:r>
            <a:br/>
            <a:r>
              <a:t>registration table + grades 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3200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Deployment: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Next.js 14 deployed on Vercel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Environment variables configured via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   Vercel Project Settings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Supabase hosted (cloud PostgreSQL)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0.0.0.0 binding for local network testing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Production URL set via NEXT_PUBLIC_BASE_URL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Potential Enhancements: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Supabase SSR middleware for edge-level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   admin route protection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Custom Student ID format patterns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Batch activation/deactivation toggle in UI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Advanced analytics: pass/fail rates,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   cohort comparisons, grade distributions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Email/SMS notifications on registration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▸ Bulk certificate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1645920"/>
            <a:ext cx="32918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F3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560320"/>
            <a:ext cx="329184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ATS Membership App — Citadel Global Community Church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Questions?  •  Feedback?  •  Feature Requests?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